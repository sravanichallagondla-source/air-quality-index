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676" r:id="rId3"/>
    <p:sldId id="259" r:id="rId4"/>
    <p:sldId id="306" r:id="rId5"/>
    <p:sldId id="312" r:id="rId6"/>
    <p:sldId id="329" r:id="rId7"/>
    <p:sldId id="369" r:id="rId8"/>
    <p:sldId id="388" r:id="rId9"/>
    <p:sldId id="400" r:id="rId10"/>
    <p:sldId id="452" r:id="rId11"/>
    <p:sldId id="455" r:id="rId12"/>
    <p:sldId id="476" r:id="rId13"/>
    <p:sldId id="501" r:id="rId14"/>
    <p:sldId id="515" r:id="rId15"/>
    <p:sldId id="527" r:id="rId16"/>
    <p:sldId id="552" r:id="rId17"/>
    <p:sldId id="571" r:id="rId18"/>
    <p:sldId id="579" r:id="rId19"/>
    <p:sldId id="624" r:id="rId20"/>
    <p:sldId id="638" r:id="rId21"/>
    <p:sldId id="6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3" autoAdjust="0"/>
    <p:restoredTop sz="95033" autoAdjust="0"/>
  </p:normalViewPr>
  <p:slideViewPr>
    <p:cSldViewPr>
      <p:cViewPr varScale="1">
        <p:scale>
          <a:sx n="78" d="100"/>
          <a:sy n="78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iya sani" userId="dd514bfe61ba80c4" providerId="LiveId" clId="{A6CA1AFA-2F62-488D-98D4-DCBDC2536E24}"/>
    <pc:docChg chg="modSld">
      <pc:chgData name="supriya sani" userId="dd514bfe61ba80c4" providerId="LiveId" clId="{A6CA1AFA-2F62-488D-98D4-DCBDC2536E24}" dt="2026-01-07T08:40:46.214" v="1" actId="20577"/>
      <pc:docMkLst>
        <pc:docMk/>
      </pc:docMkLst>
      <pc:sldChg chg="modSp mod">
        <pc:chgData name="supriya sani" userId="dd514bfe61ba80c4" providerId="LiveId" clId="{A6CA1AFA-2F62-488D-98D4-DCBDC2536E24}" dt="2026-01-07T08:40:46.214" v="1" actId="20577"/>
        <pc:sldMkLst>
          <pc:docMk/>
          <pc:sldMk cId="2194327321" sldId="259"/>
        </pc:sldMkLst>
        <pc:spChg chg="mod">
          <ac:chgData name="supriya sani" userId="dd514bfe61ba80c4" providerId="LiveId" clId="{A6CA1AFA-2F62-488D-98D4-DCBDC2536E24}" dt="2026-01-07T08:40:46.214" v="1" actId="20577"/>
          <ac:spMkLst>
            <pc:docMk/>
            <pc:sldMk cId="2194327321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9625F-0063-4AF8-B2E6-75F62C664B6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FACA3-57A8-411D-919D-2EA316425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FACA3-57A8-411D-919D-2EA31642559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64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FACA3-57A8-411D-919D-2EA31642559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23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FACA3-57A8-411D-919D-2EA31642559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3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09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24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2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88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6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31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9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1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92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59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7C579-3618-45F0-9D23-A5C435C5EC3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B7A7E-94C0-47D2-A6B0-1D7225F68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5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upriya2909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6632"/>
            <a:ext cx="8586192" cy="2636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476672" y="3645024"/>
            <a:ext cx="8995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                              Air Quality Index in Jakarta    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82430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CA75-B541-9311-64F5-377DC684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FD94-E288-B86B-5699-CBE89F788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Sani Supriya</a:t>
            </a:r>
          </a:p>
          <a:p>
            <a:r>
              <a:rPr lang="en-IN" sz="2000" dirty="0" err="1"/>
              <a:t>Btech</a:t>
            </a:r>
            <a:r>
              <a:rPr lang="en-IN" sz="2000" dirty="0"/>
              <a:t> ,</a:t>
            </a:r>
            <a:r>
              <a:rPr lang="en-IN" sz="2000" dirty="0" err="1"/>
              <a:t>Cse</a:t>
            </a:r>
            <a:endParaRPr lang="en-IN" sz="2000" dirty="0"/>
          </a:p>
          <a:p>
            <a:r>
              <a:rPr lang="en-IN" sz="2000" dirty="0"/>
              <a:t>Linked in: </a:t>
            </a:r>
            <a:r>
              <a:rPr lang="en-IN" sz="2000" dirty="0">
                <a:hlinkClick r:id="rId2"/>
              </a:rPr>
              <a:t>https://www.linkedin.com/in/supriya2909/</a:t>
            </a:r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50910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1484784"/>
            <a:ext cx="70567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Dataset contains air quality measurements from 2010 </a:t>
            </a:r>
            <a:r>
              <a:rPr lang="en-IN" sz="2400"/>
              <a:t>to 2024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collected from multiple monitoring stations (</a:t>
            </a:r>
            <a:r>
              <a:rPr lang="en-IN" sz="2400" dirty="0" err="1"/>
              <a:t>stasiun</a:t>
            </a:r>
            <a:r>
              <a:rPr lang="en-IN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Includes major pollutants such as:</a:t>
            </a:r>
          </a:p>
          <a:p>
            <a:r>
              <a:rPr lang="en-IN" sz="2400" dirty="0"/>
              <a:t>          PM2.5,PM10,SO2,CO,O3NO2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Also includes:</a:t>
            </a:r>
          </a:p>
          <a:p>
            <a:r>
              <a:rPr lang="en-IN" sz="2400" dirty="0"/>
              <a:t>         Date (</a:t>
            </a:r>
            <a:r>
              <a:rPr lang="en-IN" sz="2400" dirty="0" err="1"/>
              <a:t>tanggal</a:t>
            </a:r>
            <a:r>
              <a:rPr lang="en-IN" sz="2400" dirty="0"/>
              <a:t>),AQI Category (</a:t>
            </a:r>
            <a:r>
              <a:rPr lang="en-IN" sz="2400" dirty="0" err="1"/>
              <a:t>categori</a:t>
            </a:r>
            <a:r>
              <a:rPr lang="en-IN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FF485-F976-D7BA-F8AF-5482B6E9AF31}"/>
              </a:ext>
            </a:extLst>
          </p:cNvPr>
          <p:cNvSpPr txBox="1"/>
          <p:nvPr/>
        </p:nvSpPr>
        <p:spPr>
          <a:xfrm>
            <a:off x="467544" y="404664"/>
            <a:ext cx="5688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OVERVIEW</a:t>
            </a:r>
          </a:p>
        </p:txBody>
      </p:sp>
    </p:spTree>
    <p:extLst>
      <p:ext uri="{BB962C8B-B14F-4D97-AF65-F5344CB8AC3E}">
        <p14:creationId xmlns:p14="http://schemas.microsoft.com/office/powerpoint/2010/main" val="219432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D3CB-A543-9380-2B8E-0E9E3BEA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13" y="-4260"/>
            <a:ext cx="8229600" cy="129614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B97E-CFBE-AE3B-4D81-C23AF341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124744"/>
            <a:ext cx="9106477" cy="5400600"/>
          </a:xfrm>
        </p:spPr>
        <p:txBody>
          <a:bodyPr>
            <a:noAutofit/>
          </a:bodyPr>
          <a:lstStyle/>
          <a:p>
            <a:pPr fontAlgn="base"/>
            <a:r>
              <a:rPr lang="en-US" sz="1800" b="1" dirty="0" err="1"/>
              <a:t>tanggal</a:t>
            </a:r>
            <a:r>
              <a:rPr lang="en-US" sz="1800" dirty="0"/>
              <a:t> : The date when the AQI measurement was recorded.</a:t>
            </a:r>
          </a:p>
          <a:p>
            <a:pPr fontAlgn="base"/>
            <a:r>
              <a:rPr lang="en-US" sz="1800" b="1" dirty="0" err="1"/>
              <a:t>stasiun</a:t>
            </a:r>
            <a:r>
              <a:rPr lang="en-US" sz="1800" dirty="0"/>
              <a:t> : The name or identifier of the monitoring station where the measurement was taken.</a:t>
            </a:r>
          </a:p>
          <a:p>
            <a:pPr fontAlgn="base"/>
            <a:r>
              <a:rPr lang="en-US" sz="1800" b="1" dirty="0"/>
              <a:t>pm25</a:t>
            </a:r>
            <a:r>
              <a:rPr lang="en-US" sz="1800" dirty="0"/>
              <a:t> : The concentration of particulate matter with a diameter of 2.5 micrometers</a:t>
            </a:r>
          </a:p>
          <a:p>
            <a:pPr fontAlgn="base"/>
            <a:r>
              <a:rPr lang="en-US" sz="1800" b="1" dirty="0"/>
              <a:t>pm10</a:t>
            </a:r>
            <a:r>
              <a:rPr lang="en-US" sz="1800" dirty="0"/>
              <a:t> : The concentration of particulate matter with a diameter of 10 micrometers or less (PM10), measured in micrograms per cubic meter (µg/m³).</a:t>
            </a:r>
          </a:p>
          <a:p>
            <a:pPr fontAlgn="base"/>
            <a:r>
              <a:rPr lang="en-US" sz="1800" b="1" dirty="0"/>
              <a:t>so2</a:t>
            </a:r>
            <a:r>
              <a:rPr lang="en-US" sz="1800" dirty="0"/>
              <a:t> : The concentration of sulfur dioxide (SO2), measured in parts per million </a:t>
            </a:r>
          </a:p>
          <a:p>
            <a:pPr fontAlgn="base"/>
            <a:r>
              <a:rPr lang="en-US" sz="1800" b="1" dirty="0"/>
              <a:t>co</a:t>
            </a:r>
            <a:r>
              <a:rPr lang="en-US" sz="1800" dirty="0"/>
              <a:t> : The concentration of carbon monoxide (CO), measured in parts per million </a:t>
            </a:r>
          </a:p>
          <a:p>
            <a:pPr fontAlgn="base"/>
            <a:r>
              <a:rPr lang="en-US" sz="1800" b="1" dirty="0"/>
              <a:t>o3</a:t>
            </a:r>
            <a:r>
              <a:rPr lang="en-US" sz="1800" dirty="0"/>
              <a:t> : The concentration of ozone (O3), measured in parts per million </a:t>
            </a:r>
          </a:p>
          <a:p>
            <a:pPr fontAlgn="base"/>
            <a:r>
              <a:rPr lang="en-US" sz="1800" b="1" dirty="0"/>
              <a:t>no2</a:t>
            </a:r>
            <a:r>
              <a:rPr lang="en-US" sz="1800" dirty="0"/>
              <a:t> : The concentration of nitrogen dioxide (NO2), measured in parts per million </a:t>
            </a:r>
          </a:p>
          <a:p>
            <a:pPr fontAlgn="base"/>
            <a:r>
              <a:rPr lang="en-US" sz="1800" b="1" dirty="0"/>
              <a:t>max</a:t>
            </a:r>
            <a:r>
              <a:rPr lang="en-US" sz="1800" dirty="0"/>
              <a:t> : The maximum value recorded among the pollutants for that particular date and station. </a:t>
            </a:r>
          </a:p>
          <a:p>
            <a:pPr fontAlgn="base"/>
            <a:r>
              <a:rPr lang="en-US" sz="1800" b="1" dirty="0"/>
              <a:t>critical</a:t>
            </a:r>
            <a:r>
              <a:rPr lang="en-US" sz="1800" dirty="0"/>
              <a:t>: The pollutant that had the highest concentration for that date and station.</a:t>
            </a:r>
          </a:p>
          <a:p>
            <a:pPr fontAlgn="base"/>
            <a:r>
              <a:rPr lang="en-US" sz="1800" b="1" dirty="0"/>
              <a:t>category</a:t>
            </a:r>
            <a:r>
              <a:rPr lang="en-US" sz="1800" dirty="0"/>
              <a:t> : The air quality category based on the 'max' value that describes the air quality level.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5702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1DF2-F42C-7C91-C7DB-221953D0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DF428-E5DB-855C-0C06-8919731B6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97225"/>
            <a:ext cx="8291264" cy="5544143"/>
          </a:xfrm>
        </p:spPr>
      </p:pic>
    </p:spTree>
    <p:extLst>
      <p:ext uri="{BB962C8B-B14F-4D97-AF65-F5344CB8AC3E}">
        <p14:creationId xmlns:p14="http://schemas.microsoft.com/office/powerpoint/2010/main" val="134814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AC2D-D936-6176-A384-DB1074B4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419" y="-208571"/>
            <a:ext cx="3250704" cy="778098"/>
          </a:xfrm>
        </p:spPr>
        <p:txBody>
          <a:bodyPr>
            <a:normAutofit/>
          </a:bodyPr>
          <a:lstStyle/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CHECKS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69B203-7100-04B9-FAFC-1EDBB780B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" t="-21435" r="10644" b="8351"/>
          <a:stretch>
            <a:fillRect/>
          </a:stretch>
        </p:blipFill>
        <p:spPr>
          <a:xfrm>
            <a:off x="19339" y="307012"/>
            <a:ext cx="4192621" cy="1913372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D16DD1-F079-869C-951E-85E7F2DF9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37" t="-4834" r="7437" b="4834"/>
          <a:stretch>
            <a:fillRect/>
          </a:stretch>
        </p:blipFill>
        <p:spPr>
          <a:xfrm>
            <a:off x="-252536" y="2294354"/>
            <a:ext cx="4320480" cy="42566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424553-0DD5-CEBB-70BD-0A5AF4CD2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718" y="124591"/>
            <a:ext cx="4787778" cy="3448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6272A0-E701-1EC8-4F05-9AE84CB968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" t="-3425" r="2640" b="894"/>
          <a:stretch>
            <a:fillRect/>
          </a:stretch>
        </p:blipFill>
        <p:spPr>
          <a:xfrm>
            <a:off x="4211960" y="3689754"/>
            <a:ext cx="4787778" cy="277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4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C8CD-B146-3757-B890-65B076DA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1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3A5D86-42DC-DC7D-F98B-2A3B34A1A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8" y="1340768"/>
            <a:ext cx="3069033" cy="452596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1E123B-1FD6-281B-2A63-C5FE57888B57}"/>
              </a:ext>
            </a:extLst>
          </p:cNvPr>
          <p:cNvSpPr txBox="1"/>
          <p:nvPr/>
        </p:nvSpPr>
        <p:spPr>
          <a:xfrm>
            <a:off x="4114800" y="2974258"/>
            <a:ext cx="457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8 columns have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duplicates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Now we want to perform preprocessing techniques :</a:t>
            </a:r>
          </a:p>
          <a:p>
            <a:r>
              <a:rPr lang="en-IN" dirty="0"/>
              <a:t>                       Handling missing values</a:t>
            </a:r>
          </a:p>
          <a:p>
            <a:pPr lvl="1"/>
            <a:r>
              <a:rPr lang="en-IN" dirty="0"/>
              <a:t>              Handling inconsistencies</a:t>
            </a:r>
          </a:p>
          <a:p>
            <a:pPr lvl="1"/>
            <a:r>
              <a:rPr lang="en-IN" dirty="0"/>
              <a:t>              Date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1015186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6D191C-0A27-0520-8172-40B440995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9" y="2229161"/>
            <a:ext cx="4924003" cy="166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45420C-7749-DAA6-0172-B337F76EB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9" y="3974336"/>
            <a:ext cx="4864841" cy="27721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2D3298-4215-35F5-C319-EEA194170540}"/>
              </a:ext>
            </a:extLst>
          </p:cNvPr>
          <p:cNvSpPr txBox="1"/>
          <p:nvPr/>
        </p:nvSpPr>
        <p:spPr>
          <a:xfrm>
            <a:off x="4978343" y="0"/>
            <a:ext cx="4067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‘TIDAK ADA DATA’ means  No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‘BAIK’  means 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‘SEDANG’  means  moderate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‘TIDAK SEHAT ‘ means  unhealthy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‘SANGAT TIDAK SEHAT’ means Very unhealthy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TIDAK ADA DATA  is 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4B2CBFD-8332-BC6F-FBFD-D35B8E24F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9" y="-59107"/>
            <a:ext cx="4826424" cy="2229161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4664C4-4D67-ABEF-5E34-FD0EE48B99B2}"/>
              </a:ext>
            </a:extLst>
          </p:cNvPr>
          <p:cNvSpPr txBox="1"/>
          <p:nvPr/>
        </p:nvSpPr>
        <p:spPr>
          <a:xfrm>
            <a:off x="5148064" y="4797152"/>
            <a:ext cx="419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Missing values in </a:t>
            </a:r>
            <a:r>
              <a:rPr lang="en-IN" dirty="0" err="1"/>
              <a:t>categori</a:t>
            </a:r>
            <a:r>
              <a:rPr lang="en-IN" dirty="0"/>
              <a:t> column is handled using mode to retain most frequent value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2A8FDD-DA76-E560-F59E-727D5D50B399}"/>
              </a:ext>
            </a:extLst>
          </p:cNvPr>
          <p:cNvSpPr txBox="1"/>
          <p:nvPr/>
        </p:nvSpPr>
        <p:spPr>
          <a:xfrm>
            <a:off x="5010983" y="2865710"/>
            <a:ext cx="41330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Missing numeric value column is handled using median to handle pollutant value</a:t>
            </a:r>
          </a:p>
        </p:txBody>
      </p:sp>
    </p:spTree>
    <p:extLst>
      <p:ext uri="{BB962C8B-B14F-4D97-AF65-F5344CB8AC3E}">
        <p14:creationId xmlns:p14="http://schemas.microsoft.com/office/powerpoint/2010/main" val="352936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54B2-0709-FAEB-03CC-3090FE7A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2736"/>
            <a:ext cx="3682752" cy="364902"/>
          </a:xfrm>
        </p:spPr>
        <p:txBody>
          <a:bodyPr>
            <a:normAutofit fontScale="90000"/>
          </a:bodyPr>
          <a:lstStyle/>
          <a:p>
            <a:r>
              <a:rPr lang="en-IN" dirty="0"/>
              <a:t>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96D99E-462C-425B-A24F-9AAA30604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93" y="618902"/>
            <a:ext cx="4229690" cy="390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1F8063-A9F9-1751-6552-0E26F882FB77}"/>
              </a:ext>
            </a:extLst>
          </p:cNvPr>
          <p:cNvSpPr txBox="1"/>
          <p:nvPr/>
        </p:nvSpPr>
        <p:spPr>
          <a:xfrm>
            <a:off x="4417640" y="1094472"/>
            <a:ext cx="3985592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Tanggal</a:t>
            </a:r>
            <a:r>
              <a:rPr lang="en-IN" sz="2400" dirty="0"/>
              <a:t> is the date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There were no inconsistencies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have date in correct format and for time series analysis </a:t>
            </a:r>
            <a:r>
              <a:rPr lang="en-IN" sz="2400" dirty="0" err="1"/>
              <a:t>to_</a:t>
            </a:r>
            <a:r>
              <a:rPr lang="en-IN" sz="2500" dirty="0" err="1"/>
              <a:t>datetime</a:t>
            </a:r>
            <a:r>
              <a:rPr lang="en-IN" sz="2400" dirty="0"/>
              <a:t> is used</a:t>
            </a:r>
          </a:p>
        </p:txBody>
      </p:sp>
    </p:spTree>
    <p:extLst>
      <p:ext uri="{BB962C8B-B14F-4D97-AF65-F5344CB8AC3E}">
        <p14:creationId xmlns:p14="http://schemas.microsoft.com/office/powerpoint/2010/main" val="114907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BB2D-72BC-A968-135C-747A260E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MISSING 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4F66-3B90-B4C7-63D5-118E057CC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   Before                                          After 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The null values are removed and dataset  is now ready for analysis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9B28A-2E1F-62AD-B420-71F964A8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227538"/>
            <a:ext cx="4176464" cy="3024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A63CB-4C45-2568-CCCC-53F661CC8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2191310"/>
            <a:ext cx="173379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0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46AC94C-C4C4-383D-F88F-BAFF7EBA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" y="72008"/>
            <a:ext cx="5508104" cy="4797152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CC4ECA2-5A29-1421-F5A6-5CCAC761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5030515"/>
            <a:ext cx="8229600" cy="1257003"/>
          </a:xfrm>
        </p:spPr>
        <p:txBody>
          <a:bodyPr>
            <a:normAutofit/>
          </a:bodyPr>
          <a:lstStyle/>
          <a:p>
            <a:r>
              <a:rPr lang="en-IN" sz="2800" dirty="0"/>
              <a:t>The cleaned date is saved as ‘Air Quality .csv’  and ready to get  insights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70FFC0-FD2C-BFD1-1D4D-DA3F9152F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560" y="241003"/>
            <a:ext cx="3368744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27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4C83-6CBB-BCA8-B068-0D408CC0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5699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through visualizations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7E7AF1-BE1B-ED33-1F86-59593554F1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76" y="1198457"/>
            <a:ext cx="4032447" cy="404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C96DF-FAD9-FEA7-FD16-DFE65C69B1D0}"/>
              </a:ext>
            </a:extLst>
          </p:cNvPr>
          <p:cNvSpPr txBox="1"/>
          <p:nvPr/>
        </p:nvSpPr>
        <p:spPr>
          <a:xfrm>
            <a:off x="0" y="711967"/>
            <a:ext cx="379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72B648-6623-9D8C-517D-97D5269B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467" y="973577"/>
            <a:ext cx="3956669" cy="3808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F331C0-5CCF-DF17-33CF-AF55C2CC13D5}"/>
              </a:ext>
            </a:extLst>
          </p:cNvPr>
          <p:cNvSpPr txBox="1"/>
          <p:nvPr/>
        </p:nvSpPr>
        <p:spPr>
          <a:xfrm>
            <a:off x="56351" y="5268870"/>
            <a:ext cx="4283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majority of air quality records fall under Moderate and Unhealthy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 that Jakarta frequently experiences unsafe air quality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0E2C6-DA86-17A3-4134-6BD3570B07F0}"/>
              </a:ext>
            </a:extLst>
          </p:cNvPr>
          <p:cNvSpPr txBox="1"/>
          <p:nvPr/>
        </p:nvSpPr>
        <p:spPr>
          <a:xfrm>
            <a:off x="4572000" y="4961093"/>
            <a:ext cx="4841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O3, PM10 ,PM2.5 are the most dominant pollutant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are contributing to poor air quality</a:t>
            </a:r>
          </a:p>
        </p:txBody>
      </p:sp>
    </p:spTree>
    <p:extLst>
      <p:ext uri="{BB962C8B-B14F-4D97-AF65-F5344CB8AC3E}">
        <p14:creationId xmlns:p14="http://schemas.microsoft.com/office/powerpoint/2010/main" val="279702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DAB6-D791-5D02-CA69-6693E141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22413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Category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F9805-71CB-8F78-167A-07FADB981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056" y="1556792"/>
            <a:ext cx="4032408" cy="4525963"/>
          </a:xfrm>
        </p:spPr>
        <p:txBody>
          <a:bodyPr>
            <a:normAutofit/>
          </a:bodyPr>
          <a:lstStyle/>
          <a:p>
            <a:r>
              <a:rPr lang="en-IN" sz="1800" dirty="0"/>
              <a:t>T</a:t>
            </a:r>
            <a:r>
              <a:rPr lang="en-US" sz="1800" dirty="0"/>
              <a:t>his is a AQI category  analysis</a:t>
            </a:r>
          </a:p>
          <a:p>
            <a:r>
              <a:rPr lang="en-US" sz="1800" dirty="0"/>
              <a:t>It  shows how AQI categories are distributed across dominant pollutants using a count plot</a:t>
            </a:r>
          </a:p>
          <a:p>
            <a:r>
              <a:rPr lang="en-US" sz="1800" dirty="0"/>
              <a:t>BAIK -&gt; Good</a:t>
            </a:r>
          </a:p>
          <a:p>
            <a:r>
              <a:rPr lang="en-US" sz="1800" dirty="0"/>
              <a:t>SEDANG-&gt; Moderate</a:t>
            </a:r>
          </a:p>
          <a:p>
            <a:r>
              <a:rPr lang="en-US" sz="1800" dirty="0"/>
              <a:t>TIDAK SEHAT  -&gt; Unhealthy</a:t>
            </a:r>
          </a:p>
          <a:p>
            <a:r>
              <a:rPr lang="en-US" sz="1800" dirty="0"/>
              <a:t>SANGAT TIDAK SEHAT-&gt; Very Unhealthy          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08567-4099-76F6-34E1-733CD0499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99898"/>
            <a:ext cx="4896544" cy="535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66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1242-289E-2510-7A13-5914E3E9D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7776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4000" b="1" dirty="0"/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2670-F624-57D0-F80A-B549BF62C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958" y="1875176"/>
            <a:ext cx="3782530" cy="3860595"/>
          </a:xfrm>
        </p:spPr>
        <p:txBody>
          <a:bodyPr>
            <a:normAutofit/>
          </a:bodyPr>
          <a:lstStyle/>
          <a:p>
            <a:r>
              <a:rPr lang="en-US" sz="2000" dirty="0"/>
              <a:t>PM2.5, O3,PM10 are dominant pollutants across most AQI categories</a:t>
            </a:r>
          </a:p>
          <a:p>
            <a:r>
              <a:rPr lang="en-US" sz="2000" dirty="0"/>
              <a:t>Higher AQI categories are strongly associated with particulate matter.</a:t>
            </a:r>
          </a:p>
          <a:p>
            <a:r>
              <a:rPr lang="en-US" sz="2000" dirty="0"/>
              <a:t>NO2,SO2,CO contribute less to severe air quality conditions.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0838B-5326-14C0-4C9B-64E7DC5E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4968552" cy="4464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846E65-9D8E-85E2-1392-0A3604BC55B6}"/>
              </a:ext>
            </a:extLst>
          </p:cNvPr>
          <p:cNvSpPr txBox="1"/>
          <p:nvPr/>
        </p:nvSpPr>
        <p:spPr>
          <a:xfrm>
            <a:off x="611560" y="977964"/>
            <a:ext cx="297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  <a:cs typeface="Times New Roman" panose="02020603050405020304" pitchFamily="18" charset="0"/>
              </a:rPr>
              <a:t>Categorical Vs Categorical</a:t>
            </a:r>
          </a:p>
        </p:txBody>
      </p:sp>
    </p:spTree>
    <p:extLst>
      <p:ext uri="{BB962C8B-B14F-4D97-AF65-F5344CB8AC3E}">
        <p14:creationId xmlns:p14="http://schemas.microsoft.com/office/powerpoint/2010/main" val="179928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E512-915E-1D66-F8A5-36404E25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21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EA6F7-3CD6-3F8F-B95A-06059AA66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821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Numerical vs Numerical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5BCC1-5619-D53F-381E-DD305B93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" y="1700808"/>
            <a:ext cx="5281392" cy="468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EE80D0-8C44-FC49-1D72-03E3355E5E58}"/>
              </a:ext>
            </a:extLst>
          </p:cNvPr>
          <p:cNvSpPr txBox="1"/>
          <p:nvPr/>
        </p:nvSpPr>
        <p:spPr>
          <a:xfrm>
            <a:off x="5148064" y="2149280"/>
            <a:ext cx="39852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PM2.5 and Pm10 show a positive relationship.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Higher PM2.5 values are often associated with higher PM10 values.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This suggests common pollution sources such as traffic and industry.</a:t>
            </a:r>
          </a:p>
        </p:txBody>
      </p:sp>
    </p:spTree>
    <p:extLst>
      <p:ext uri="{BB962C8B-B14F-4D97-AF65-F5344CB8AC3E}">
        <p14:creationId xmlns:p14="http://schemas.microsoft.com/office/powerpoint/2010/main" val="386008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9D4E-5D7E-94F0-88A9-1AC0130B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033E-9430-6FD3-5EE8-C2304CE29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2952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Categorical vs Numerical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6559E-18A4-E0F2-B5B9-3887C5A0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243"/>
            <a:ext cx="5247529" cy="5344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2D1ECC-F3CB-785C-CEA6-E26E1B8984EF}"/>
              </a:ext>
            </a:extLst>
          </p:cNvPr>
          <p:cNvSpPr txBox="1"/>
          <p:nvPr/>
        </p:nvSpPr>
        <p:spPr>
          <a:xfrm>
            <a:off x="4932040" y="1999220"/>
            <a:ext cx="41044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strip plot shows the distribution of PM2.5 values across different AQI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BAIK(good):</a:t>
            </a:r>
            <a:r>
              <a:rPr lang="en-IN" dirty="0"/>
              <a:t> Low PM2.5 values with minimal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SEDANG(moderate):</a:t>
            </a:r>
            <a:r>
              <a:rPr lang="en-IN" dirty="0"/>
              <a:t> Moderate PM2.5 with wider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TIDAK SEHAT(unhealthy):</a:t>
            </a:r>
            <a:r>
              <a:rPr lang="en-IN" dirty="0"/>
              <a:t> High and variable PM2.5 indicating pollution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SANGAT TIDAK SEHAT(very unhealthy):</a:t>
            </a:r>
            <a:r>
              <a:rPr lang="en-IN" dirty="0"/>
              <a:t> Highest PM2.5 levels, showing severe air pollution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8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B300-B7E3-A1F6-0FCB-A114946E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6" y="-306288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EA7197-1FE4-BD6B-0E7D-9B4E18436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6" y="836712"/>
            <a:ext cx="8820472" cy="43924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6D531D-A820-9621-9ADC-A540D186EC45}"/>
              </a:ext>
            </a:extLst>
          </p:cNvPr>
          <p:cNvSpPr txBox="1"/>
          <p:nvPr/>
        </p:nvSpPr>
        <p:spPr>
          <a:xfrm>
            <a:off x="884332" y="5373216"/>
            <a:ext cx="7092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PM2.5 remains consistently higher than other pollutants across years.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PM10 and NO2 fluctuate but contribute less compared to PM2.5.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Particulate matter is the dominant air pollution concern in Jakarta.</a:t>
            </a:r>
          </a:p>
        </p:txBody>
      </p:sp>
    </p:spTree>
    <p:extLst>
      <p:ext uri="{BB962C8B-B14F-4D97-AF65-F5344CB8AC3E}">
        <p14:creationId xmlns:p14="http://schemas.microsoft.com/office/powerpoint/2010/main" val="4146031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2F9C-E352-24DA-247E-94F2BD4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30277-98D6-5485-CD83-1503F9CA9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0768"/>
            <a:ext cx="5423198" cy="47342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3D6E4-762C-5E94-55A1-8746C6EACEBF}"/>
              </a:ext>
            </a:extLst>
          </p:cNvPr>
          <p:cNvSpPr txBox="1"/>
          <p:nvPr/>
        </p:nvSpPr>
        <p:spPr>
          <a:xfrm>
            <a:off x="5262909" y="1700808"/>
            <a:ext cx="40324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The yearly average PM2.5 level across different years.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PM 2.5 was constant from 2012-2020.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There were fluctuation after 2020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From 2020 -2021 </a:t>
            </a:r>
            <a:r>
              <a:rPr lang="en-US" dirty="0">
                <a:latin typeface="system-ui"/>
              </a:rPr>
              <a:t>PM 2.5 level is constantly varying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 Then it decreased </a:t>
            </a:r>
            <a:r>
              <a:rPr lang="en-US" dirty="0">
                <a:latin typeface="system-ui"/>
              </a:rPr>
              <a:t>a</a:t>
            </a:r>
            <a:r>
              <a:rPr lang="en-US" b="0" i="0" dirty="0">
                <a:effectLst/>
                <a:latin typeface="system-ui"/>
              </a:rPr>
              <a:t>fter 2024</a:t>
            </a:r>
          </a:p>
        </p:txBody>
      </p:sp>
    </p:spTree>
    <p:extLst>
      <p:ext uri="{BB962C8B-B14F-4D97-AF65-F5344CB8AC3E}">
        <p14:creationId xmlns:p14="http://schemas.microsoft.com/office/powerpoint/2010/main" val="3561264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7879-BC7A-7D7E-70EE-38C634C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BASED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B9DD9-764D-9791-E156-9D463F801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166017"/>
            <a:ext cx="5471592" cy="45259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7D6118-207E-4778-2EBD-5C9AB3D8BB63}"/>
              </a:ext>
            </a:extLst>
          </p:cNvPr>
          <p:cNvSpPr txBox="1"/>
          <p:nvPr/>
        </p:nvSpPr>
        <p:spPr>
          <a:xfrm>
            <a:off x="5471592" y="2413337"/>
            <a:ext cx="36724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Pm2.5 levels vary significantly     across different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From month 1 pollutant level is increasing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From month 7 pollutant level is decreasing due to seasonal effect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31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08BF-E6AE-B442-097B-DDDE8565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49889-9033-CFF6-E9EC-89D0BC779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5035246"/>
            <a:ext cx="9885784" cy="4525963"/>
          </a:xfrm>
        </p:spPr>
        <p:txBody>
          <a:bodyPr>
            <a:normAutofit/>
          </a:bodyPr>
          <a:lstStyle/>
          <a:p>
            <a:r>
              <a:rPr lang="en-US" sz="1800" dirty="0"/>
              <a:t>PM2.5 and PM10 show a weak positive correlation, indicating some shared pollution</a:t>
            </a:r>
          </a:p>
          <a:p>
            <a:pPr marL="0" indent="0">
              <a:buNone/>
            </a:pPr>
            <a:r>
              <a:rPr lang="en-US" sz="1800" dirty="0"/>
              <a:t>       sources.</a:t>
            </a:r>
          </a:p>
          <a:p>
            <a:r>
              <a:rPr lang="en-US" sz="1800" dirty="0"/>
              <a:t>NO2 has a weak relationship with PM2.5 and PM10, suggesting different emission patterns.</a:t>
            </a:r>
          </a:p>
          <a:p>
            <a:r>
              <a:rPr lang="en-US" sz="1800" dirty="0"/>
              <a:t>No strong correlations are observed among pollutants.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E3D4E-10D6-7A05-B32A-B17D372BA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8640"/>
            <a:ext cx="8712968" cy="47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38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C379-0F7A-79C6-B24B-B65BBA7C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92C206-790C-3C94-909C-BCE7DB0E25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924774"/>
            <a:ext cx="914400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dataset was cleaned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removing invalid AQI category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</a:t>
            </a:r>
            <a:r>
              <a:rPr lang="en-US" altLang="en-US" sz="1800" dirty="0">
                <a:latin typeface="Arial" panose="020B0604020202020204" pitchFamily="34" charset="0"/>
              </a:rPr>
              <a:t>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andled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column-wise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for numerical pollutants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 for categorical variables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Categorical inconsistencies were fixed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standardizing text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Date column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to 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the  dataset time-series 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Univariate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PM2.5 as a dominant pollutant and showed AQI  category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Bivariate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revealed how pollutant levels vary across AQI categories and stations.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Multivariate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correlation heatmaps showed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positive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pollutants.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Visual EDA highlighted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trends, station-wise variations, and pollution severity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93010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911</Words>
  <Application>Microsoft Office PowerPoint</Application>
  <PresentationFormat>On-screen Show (4:3)</PresentationFormat>
  <Paragraphs>134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system-ui</vt:lpstr>
      <vt:lpstr>Times New Roman</vt:lpstr>
      <vt:lpstr>Office Theme</vt:lpstr>
      <vt:lpstr>PowerPoint Presentation</vt:lpstr>
      <vt:lpstr>ABOUT ME</vt:lpstr>
      <vt:lpstr>PowerPoint Presentation</vt:lpstr>
      <vt:lpstr>DESCRIPTION OF COLUMNS</vt:lpstr>
      <vt:lpstr>READING DATASET</vt:lpstr>
      <vt:lpstr>BASIC CHECKS</vt:lpstr>
      <vt:lpstr>PREPROCESSING TECHNIQUES</vt:lpstr>
      <vt:lpstr>PowerPoint Presentation</vt:lpstr>
      <vt:lpstr>T</vt:lpstr>
      <vt:lpstr>CHECK MISSING VALUES </vt:lpstr>
      <vt:lpstr>PowerPoint Presentation</vt:lpstr>
      <vt:lpstr>Data analysis through visualizations</vt:lpstr>
      <vt:lpstr>AQI Category Distribution</vt:lpstr>
      <vt:lpstr>Bivariate analysis</vt:lpstr>
      <vt:lpstr>Bivariate analysis</vt:lpstr>
      <vt:lpstr>Bivariate analysis</vt:lpstr>
      <vt:lpstr>MULTIVARIATE  ANALYSIS</vt:lpstr>
      <vt:lpstr>TIME SERIES ANALYSIS</vt:lpstr>
      <vt:lpstr>TIME BASED ANALYSIS</vt:lpstr>
      <vt:lpstr>PowerPoint Presentation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supriya sani</cp:lastModifiedBy>
  <cp:revision>16</cp:revision>
  <dcterms:created xsi:type="dcterms:W3CDTF">2026-01-05T05:55:14Z</dcterms:created>
  <dcterms:modified xsi:type="dcterms:W3CDTF">2026-01-07T08:40:52Z</dcterms:modified>
</cp:coreProperties>
</file>